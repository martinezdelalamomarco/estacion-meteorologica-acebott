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4D970C85-CE6C-8BF1-B8F8-77D5F0F7F6F4}">
          <p14:sldIdLst>
            <p14:sldId id="256"/>
          </p14:sldIdLst>
        </p14:section>
        <p14:section name="Indice" id="{45BB0F4D-281A-FB55-052E-F4A8EF10C4C9}">
          <p14:sldIdLst>
            <p14:sldId id="257"/>
          </p14:sldIdLst>
        </p14:section>
        <p14:section name="Proyecto" id="{7C4AAFF9-DC96-0B1B-4DA4-5224629B57BA}">
          <p14:sldIdLst>
            <p14:sldId id="258"/>
          </p14:sldIdLst>
        </p14:section>
        <p14:section name="Arquitectura" id="{511941AA-86F0-51E2-6DB1-768F7D4CC29F}">
          <p14:sldIdLst>
            <p14:sldId id="259"/>
          </p14:sldIdLst>
        </p14:section>
        <p14:section name="Resultado" id="{691596EE-5621-A7A2-A282-777F9CEDFD5C}">
          <p14:sldIdLst>
            <p14:sldId id="260"/>
          </p14:sldIdLst>
        </p14:section>
        <p14:section name="Cierre" id="{2067307A-33F7-F84A-FDB9-C73D98676DF0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99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Presentarse: nombres y proyecto en una frase.
Ejemplo: 'Somos Héctor y Marco y os vamos a enseñar cómo hemos conectado una estación meteorológica con un servidor Windows para guardar sus datos en SQL Server y analizarlos en Power BI'.
Tiempo orientativo: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en una frase el orden: primero la estación, después cómo viajan los datos y al final el resultado.
Tiempo orientativo: 15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que se entienda qué hemos hecho en menos de un minuto.
- Presentar el proyecto: una estación meteorológica que mide 9 variables y las manda solas a un servidor, donde se guardan y se analizan.
- Señalar la foto: es el kit ACEBOTT con placa ESP32. Se ven el anemómetro, el panel solar y la pantalla OLED, que muestra los valores y si el último envío ha ido bien.
- Recalcar los tres datos: 9 variables, una lectura por minuto y 4 capas (estación, comunicación, servidor y visualización).
- Frase de cierre para pasar a la siguiente: 'Ahora os enseñamos cómo llega cada dato desde la estación hasta el dashboard'.
Tiempo orientativo: 1 minuto y 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el recorrido de un dato, de izquierda a derecha.
- Estación: cada minuto lee los sensores y manda un JSON por WiFi.
- ngrok: da una dirección pública fija y lleva la petición hasta nuestro servidor Windows Server 2025.
- API en Node.js: comprueba la clave de acceso (X-API-Key) y que los datos son válidos.
- SQL Server: guarda la lectura; la fecha la pone la base de datos, así la estación no necesita reloj.
- Power BI y la web leen esa misma tabla.
Las dos decisiones de abajo suelen generar preguntas, así que conviene contarlas:
- ngrok era necesario porque la estación y el servidor están en subredes distintas.
- La estación envía por HTTP porque el HTTPS se cortaba en la red del centro; lo dejamos como mejora.
Detalle extra si sobra tiempo: todo el servidor se instala con un solo instalador y arranca solo al reiniciar.
Tiempo orientativo: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enseñar que funciona y cerrar con lo aprendido.
- La foto es el dashboard real con datos de la estación: arriba la última lectura de cada sensor, en medio las gráficas de temperatura y humedad del día, y abajo la presión, el PM2.5 por horas y el índice UV. Arriba a la derecha, el indicador 'En línea'.
- Si hay tiempo y conexión, enseñarlo en directo en lugar de la foto.
- Comentar algún indicador calculado: la tendencia de la presión en 3 horas avisa de posible mal tiempo si baja más de 3 hPa.
- Repasar rápido los problemas resueltos: no son fallos del proyecto, son problemas reales de red y de hardware que tuvimos que diagnosticar.
- Cerrar con los siguientes pasos: recuperar el cifrado HTTPS, usar sensores más precisos (DHT22 o BME280) y añadir alertas.
- Frase final: 'El sistema funciona de extremo a extremo: de un sensor en la estación a un dashboard en tiempo real'.
Tiempo orientativo: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las gracias y abrir el turno de preguntas.
Preguntas probables y respuesta corta:
- ¿Por qué no Linux y Flask como en la propuesta? Teníamos Windows Server 2025 y conocemos SQL Server, que además conecta directamente con Power BI.
- ¿Es seguro enviar por HTTP? No va cifrado; lo protege una clave en la cabecera. Es la mejora principal pendiente.
- ¿Qué pasa si se cae la WiFi? La estación sigue midiendo y reintenta en el siguiente envío; el dashboard marca 'Sin datos' a los 15 minutos.
- ¿No se acaba el plan gratuito de ngrok? Permite 20.000 peticiones al mes y enviando cada minuto se agota en unas dos semanas. Para la demostración basta; para dejarla funcionando habría que enviar cada 5 minutos.
- ¿Qué pasa si se reinicia el servidor? La API y ngrok son servicios de Windows y arrancan solos.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Estación meteorológica ACEBOTT - Héctor y Marco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4206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portada" descr="La estación en la azotea del institut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Estación meteorológica ACEBOTT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063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Del sensor al dashboard: ESP32, Windows Server, SQL Server y Power BI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</a:rPr>
              <a:t>Héctor y Marco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Máster en Big Data e IA - 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Índice</a:t>
            </a:r>
            <a:endParaRPr lang="en-US" sz="2800" dirty="0"/>
          </a:p>
        </p:txBody>
      </p:sp>
      <p:sp>
        <p:nvSpPr>
          <p:cNvPr id="3" name="Indice 01"/>
          <p:cNvSpPr/>
          <p:nvPr/>
        </p:nvSpPr>
        <p:spPr>
          <a:xfrm>
            <a:off x="45720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 estación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Qué hemos construido y qué mide</a:t>
            </a:r>
            <a:endParaRPr lang="en-US" sz="1400" dirty="0"/>
          </a:p>
        </p:txBody>
      </p:sp>
      <p:sp>
        <p:nvSpPr>
          <p:cNvPr id="7" name="Indice 02"/>
          <p:cNvSpPr/>
          <p:nvPr/>
        </p:nvSpPr>
        <p:spPr>
          <a:xfrm>
            <a:off x="324612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Arquitectura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1546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Cómo viaja cada lectura hasta el dashboard</a:t>
            </a:r>
            <a:endParaRPr lang="en-US" sz="1400" dirty="0"/>
          </a:p>
        </p:txBody>
      </p:sp>
      <p:sp>
        <p:nvSpPr>
          <p:cNvPr id="11" name="Indice 03"/>
          <p:cNvSpPr/>
          <p:nvPr/>
        </p:nvSpPr>
        <p:spPr>
          <a:xfrm>
            <a:off x="603504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Resultado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546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El dashboard funcionando y lo que hemos aprendido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Una estación meteorológica conectada</a:t>
            </a:r>
            <a:endParaRPr lang="en-US" sz="2800" dirty="0"/>
          </a:p>
        </p:txBody>
      </p:sp>
      <p:sp>
        <p:nvSpPr>
          <p:cNvPr id="4" name="Dato 1"/>
          <p:cNvSpPr/>
          <p:nvPr/>
        </p:nvSpPr>
        <p:spPr>
          <a:xfrm>
            <a:off x="4389120" y="1143000"/>
            <a:ext cx="1325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389120" y="12070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462272" y="178308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variables medidas</a:t>
            </a:r>
            <a:endParaRPr lang="en-US" sz="1100" dirty="0"/>
          </a:p>
        </p:txBody>
      </p:sp>
      <p:sp>
        <p:nvSpPr>
          <p:cNvPr id="7" name="Dato 2"/>
          <p:cNvSpPr/>
          <p:nvPr/>
        </p:nvSpPr>
        <p:spPr>
          <a:xfrm>
            <a:off x="5852160" y="1143000"/>
            <a:ext cx="1325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2070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 min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925312" y="178308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entre cada envío</a:t>
            </a:r>
            <a:endParaRPr lang="en-US" sz="1100" dirty="0"/>
          </a:p>
        </p:txBody>
      </p:sp>
      <p:sp>
        <p:nvSpPr>
          <p:cNvPr id="10" name="Dato 3"/>
          <p:cNvSpPr/>
          <p:nvPr/>
        </p:nvSpPr>
        <p:spPr>
          <a:xfrm>
            <a:off x="7315200" y="1143000"/>
            <a:ext cx="1325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120700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388352" y="178308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capas, del sensor al dashboard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Qué mide</a:t>
            </a:r>
            <a:endParaRPr lang="en-US" sz="1600" dirty="0"/>
          </a:p>
        </p:txBody>
      </p:sp>
      <p:sp>
        <p:nvSpPr>
          <p:cNvPr id="14" name="Variable Temperatura"/>
          <p:cNvSpPr/>
          <p:nvPr/>
        </p:nvSpPr>
        <p:spPr>
          <a:xfrm>
            <a:off x="4389120" y="292608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29260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Temperatura</a:t>
            </a:r>
            <a:endParaRPr lang="en-US" sz="1100" dirty="0"/>
          </a:p>
        </p:txBody>
      </p:sp>
      <p:sp>
        <p:nvSpPr>
          <p:cNvPr id="16" name="Variable Humedad"/>
          <p:cNvSpPr/>
          <p:nvPr/>
        </p:nvSpPr>
        <p:spPr>
          <a:xfrm>
            <a:off x="5852160" y="292608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29260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Humedad</a:t>
            </a:r>
            <a:endParaRPr lang="en-US" sz="1100" dirty="0"/>
          </a:p>
        </p:txBody>
      </p:sp>
      <p:sp>
        <p:nvSpPr>
          <p:cNvPr id="18" name="Variable Presión"/>
          <p:cNvSpPr/>
          <p:nvPr/>
        </p:nvSpPr>
        <p:spPr>
          <a:xfrm>
            <a:off x="7315200" y="292608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0" y="29260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Presión</a:t>
            </a:r>
            <a:endParaRPr lang="en-US" sz="1100" dirty="0"/>
          </a:p>
        </p:txBody>
      </p:sp>
      <p:sp>
        <p:nvSpPr>
          <p:cNvPr id="20" name="Variable Viento"/>
          <p:cNvSpPr/>
          <p:nvPr/>
        </p:nvSpPr>
        <p:spPr>
          <a:xfrm>
            <a:off x="4389120" y="3310128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0" y="3310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Viento</a:t>
            </a:r>
            <a:endParaRPr lang="en-US" sz="1100" dirty="0"/>
          </a:p>
        </p:txBody>
      </p:sp>
      <p:sp>
        <p:nvSpPr>
          <p:cNvPr id="22" name="Variable Índice UV"/>
          <p:cNvSpPr/>
          <p:nvPr/>
        </p:nvSpPr>
        <p:spPr>
          <a:xfrm>
            <a:off x="5852160" y="3310128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52160" y="3310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Índice UV</a:t>
            </a:r>
            <a:endParaRPr lang="en-US" sz="1100" dirty="0"/>
          </a:p>
        </p:txBody>
      </p:sp>
      <p:sp>
        <p:nvSpPr>
          <p:cNvPr id="24" name="Variable PM2.5"/>
          <p:cNvSpPr/>
          <p:nvPr/>
        </p:nvSpPr>
        <p:spPr>
          <a:xfrm>
            <a:off x="7315200" y="3310128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0" y="3310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PM2.5</a:t>
            </a:r>
            <a:endParaRPr lang="en-US" sz="1100" dirty="0"/>
          </a:p>
        </p:txBody>
      </p:sp>
      <p:sp>
        <p:nvSpPr>
          <p:cNvPr id="26" name="Variable Luz"/>
          <p:cNvSpPr/>
          <p:nvPr/>
        </p:nvSpPr>
        <p:spPr>
          <a:xfrm>
            <a:off x="4389120" y="3694176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89120" y="36941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Luz</a:t>
            </a:r>
            <a:endParaRPr lang="en-US" sz="1100" dirty="0"/>
          </a:p>
        </p:txBody>
      </p:sp>
      <p:sp>
        <p:nvSpPr>
          <p:cNvPr id="28" name="Variable Lluvia"/>
          <p:cNvSpPr/>
          <p:nvPr/>
        </p:nvSpPr>
        <p:spPr>
          <a:xfrm>
            <a:off x="5852160" y="3694176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52160" y="36941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Lluvia</a:t>
            </a:r>
            <a:endParaRPr lang="en-US" sz="1100" dirty="0"/>
          </a:p>
        </p:txBody>
      </p:sp>
      <p:sp>
        <p:nvSpPr>
          <p:cNvPr id="30" name="Variable Vibración"/>
          <p:cNvSpPr/>
          <p:nvPr/>
        </p:nvSpPr>
        <p:spPr>
          <a:xfrm>
            <a:off x="7315200" y="3694176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0" y="36941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Vibración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3891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Kit ACEBOTT QE011 con placa ESP32, alimentado con baterías y panel solar.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44D6833E-1AB1-671E-6275-478B165664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12" b="10404"/>
          <a:stretch/>
        </p:blipFill>
        <p:spPr>
          <a:xfrm>
            <a:off x="457201" y="1140146"/>
            <a:ext cx="3139844" cy="3386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Cómo viaja cada lectura hasta el dashboard</a:t>
            </a:r>
            <a:endParaRPr lang="en-US" sz="2800" dirty="0"/>
          </a:p>
        </p:txBody>
      </p:sp>
      <p:sp>
        <p:nvSpPr>
          <p:cNvPr id="3" name="Paso 1"/>
          <p:cNvSpPr/>
          <p:nvPr/>
        </p:nvSpPr>
        <p:spPr>
          <a:xfrm>
            <a:off x="457200" y="1188720"/>
            <a:ext cx="1481328" cy="1783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paso 1"/>
          <p:cNvSpPr/>
          <p:nvPr/>
        </p:nvSpPr>
        <p:spPr>
          <a:xfrm>
            <a:off x="896112" y="1371600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paso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50876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Estación ESP32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048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Lee los sensores y envía un JSON</a:t>
            </a:r>
            <a:endParaRPr lang="en-US" sz="1100" dirty="0"/>
          </a:p>
        </p:txBody>
      </p:sp>
      <p:sp>
        <p:nvSpPr>
          <p:cNvPr id="8" name="Flecha 1"/>
          <p:cNvSpPr/>
          <p:nvPr/>
        </p:nvSpPr>
        <p:spPr>
          <a:xfrm>
            <a:off x="1961388" y="1988820"/>
            <a:ext cx="15087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Paso 2"/>
          <p:cNvSpPr/>
          <p:nvPr/>
        </p:nvSpPr>
        <p:spPr>
          <a:xfrm>
            <a:off x="2135124" y="1188720"/>
            <a:ext cx="1481328" cy="1783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ulo paso 2"/>
          <p:cNvSpPr/>
          <p:nvPr/>
        </p:nvSpPr>
        <p:spPr>
          <a:xfrm>
            <a:off x="2574036" y="1371600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o paso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196" y="15087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08276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ngrok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226564" y="24048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Túnel con dirección pública fija</a:t>
            </a:r>
            <a:endParaRPr lang="en-US" sz="1100" dirty="0"/>
          </a:p>
        </p:txBody>
      </p:sp>
      <p:sp>
        <p:nvSpPr>
          <p:cNvPr id="14" name="Flecha 2"/>
          <p:cNvSpPr/>
          <p:nvPr/>
        </p:nvSpPr>
        <p:spPr>
          <a:xfrm>
            <a:off x="3639312" y="1988820"/>
            <a:ext cx="15087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Paso 3"/>
          <p:cNvSpPr/>
          <p:nvPr/>
        </p:nvSpPr>
        <p:spPr>
          <a:xfrm>
            <a:off x="3813048" y="1188720"/>
            <a:ext cx="1481328" cy="1783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ulo paso 3"/>
          <p:cNvSpPr/>
          <p:nvPr/>
        </p:nvSpPr>
        <p:spPr>
          <a:xfrm>
            <a:off x="4251960" y="1371600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 paso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0876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86200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API Node.js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904488" y="24048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Comprueba la clave y valida</a:t>
            </a:r>
            <a:endParaRPr lang="en-US" sz="1100" dirty="0"/>
          </a:p>
        </p:txBody>
      </p:sp>
      <p:sp>
        <p:nvSpPr>
          <p:cNvPr id="20" name="Flecha 3"/>
          <p:cNvSpPr/>
          <p:nvPr/>
        </p:nvSpPr>
        <p:spPr>
          <a:xfrm>
            <a:off x="5317236" y="1988820"/>
            <a:ext cx="15087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Paso 4"/>
          <p:cNvSpPr/>
          <p:nvPr/>
        </p:nvSpPr>
        <p:spPr>
          <a:xfrm>
            <a:off x="5490972" y="1188720"/>
            <a:ext cx="1481328" cy="1783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irculo paso 4"/>
          <p:cNvSpPr/>
          <p:nvPr/>
        </p:nvSpPr>
        <p:spPr>
          <a:xfrm>
            <a:off x="5929884" y="1371600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o paso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044" y="150876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64124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SQL Server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582412" y="24048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Guarda la lectura con su fecha</a:t>
            </a:r>
            <a:endParaRPr lang="en-US" sz="1100" dirty="0"/>
          </a:p>
        </p:txBody>
      </p:sp>
      <p:sp>
        <p:nvSpPr>
          <p:cNvPr id="26" name="Flecha 4"/>
          <p:cNvSpPr/>
          <p:nvPr/>
        </p:nvSpPr>
        <p:spPr>
          <a:xfrm>
            <a:off x="6995160" y="1988820"/>
            <a:ext cx="15087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Paso 5"/>
          <p:cNvSpPr/>
          <p:nvPr/>
        </p:nvSpPr>
        <p:spPr>
          <a:xfrm>
            <a:off x="7168896" y="1188720"/>
            <a:ext cx="1481328" cy="1783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irculo paso 5"/>
          <p:cNvSpPr/>
          <p:nvPr/>
        </p:nvSpPr>
        <p:spPr>
          <a:xfrm>
            <a:off x="7607808" y="1371600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o paso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1508760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42048" y="20848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Power BI y web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260336" y="240487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Muestran y analizan los datos</a:t>
            </a:r>
            <a:endParaRPr lang="en-US" sz="1100" dirty="0"/>
          </a:p>
        </p:txBody>
      </p:sp>
      <p:sp>
        <p:nvSpPr>
          <p:cNvPr id="32" name="Borde decision 1"/>
          <p:cNvSpPr/>
          <p:nvPr/>
        </p:nvSpPr>
        <p:spPr>
          <a:xfrm>
            <a:off x="457200" y="324612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3" name="Circulo decision 1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cono decision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3538728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3444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qué ngrok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1234440" y="3749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La estación y el servidor están en subredes distintas que no se ven entre sí. El túnel sale desde el servidor, sin abrir puertos.</a:t>
            </a:r>
            <a:endParaRPr lang="en-US" sz="1100" dirty="0"/>
          </a:p>
        </p:txBody>
      </p:sp>
      <p:sp>
        <p:nvSpPr>
          <p:cNvPr id="37" name="Borde decision 2"/>
          <p:cNvSpPr/>
          <p:nvPr/>
        </p:nvSpPr>
        <p:spPr>
          <a:xfrm>
            <a:off x="4663440" y="324612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8" name="Circulo decision 2"/>
          <p:cNvSpPr/>
          <p:nvPr/>
        </p:nvSpPr>
        <p:spPr>
          <a:xfrm>
            <a:off x="4846320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9" name="Icono decision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3538728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44068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qué HTTP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5440680" y="3749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La conexión HTTPS del ESP32 con ngrok se cortaba en la red del centro. Por HTTP llega bien; queda como mejora pendiente.</a:t>
            </a:r>
            <a:endParaRPr lang="en-US" sz="1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Resultado: datos en tiempo real</a:t>
            </a:r>
            <a:endParaRPr lang="en-US" sz="2800" dirty="0"/>
          </a:p>
        </p:txBody>
      </p:sp>
      <p:pic>
        <p:nvPicPr>
          <p:cNvPr id="3" name="Foto dashboard" descr="Dashboard de Power BI con datos reales de la est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484632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143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Problemas que resolvimos</a:t>
            </a:r>
            <a:endParaRPr lang="en-US" sz="1600" dirty="0"/>
          </a:p>
        </p:txBody>
      </p:sp>
      <p:sp>
        <p:nvSpPr>
          <p:cNvPr id="5" name="Punto problema 1"/>
          <p:cNvSpPr/>
          <p:nvPr/>
        </p:nvSpPr>
        <p:spPr>
          <a:xfrm>
            <a:off x="5623560" y="161848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Redes separadas: </a:t>
            </a:r>
            <a:r>
              <a:rPr lang="en-US" sz="1200" dirty="0">
                <a:solidFill>
                  <a:schemeClr val="tx2"/>
                </a:solidFill>
              </a:rPr>
              <a:t>Túnel ngrok</a:t>
            </a:r>
            <a:endParaRPr lang="en-US" sz="1200" dirty="0"/>
          </a:p>
        </p:txBody>
      </p:sp>
      <p:sp>
        <p:nvSpPr>
          <p:cNvPr id="7" name="Punto problema 2"/>
          <p:cNvSpPr/>
          <p:nvPr/>
        </p:nvSpPr>
        <p:spPr>
          <a:xfrm>
            <a:off x="5623560" y="207568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011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HTTPS bloqueado: </a:t>
            </a:r>
            <a:r>
              <a:rPr lang="en-US" sz="1200" dirty="0">
                <a:solidFill>
                  <a:schemeClr val="tx2"/>
                </a:solidFill>
              </a:rPr>
              <a:t>Envío por HTTP</a:t>
            </a:r>
            <a:endParaRPr lang="en-US" sz="1200" dirty="0"/>
          </a:p>
        </p:txBody>
      </p:sp>
      <p:sp>
        <p:nvSpPr>
          <p:cNvPr id="9" name="Punto problema 3"/>
          <p:cNvSpPr/>
          <p:nvPr/>
        </p:nvSpPr>
        <p:spPr>
          <a:xfrm>
            <a:off x="5623560" y="253288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Datos sin decimales: </a:t>
            </a:r>
            <a:r>
              <a:rPr lang="en-US" sz="1200" dirty="0">
                <a:solidFill>
                  <a:schemeClr val="tx2"/>
                </a:solidFill>
              </a:rPr>
              <a:t>Variables corregidas</a:t>
            </a:r>
            <a:endParaRPr lang="en-US" sz="1200" dirty="0"/>
          </a:p>
        </p:txBody>
      </p:sp>
      <p:sp>
        <p:nvSpPr>
          <p:cNvPr id="11" name="Punto problema 4"/>
          <p:cNvSpPr/>
          <p:nvPr/>
        </p:nvSpPr>
        <p:spPr>
          <a:xfrm>
            <a:off x="5623560" y="299008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Vibración al revés: </a:t>
            </a:r>
            <a:r>
              <a:rPr lang="en-US" sz="1200" dirty="0">
                <a:solidFill>
                  <a:schemeClr val="tx2"/>
                </a:solidFill>
              </a:rPr>
              <a:t>Lectura invertida</a:t>
            </a:r>
            <a:endParaRPr lang="en-US" sz="1200" dirty="0"/>
          </a:p>
        </p:txBody>
      </p:sp>
      <p:sp>
        <p:nvSpPr>
          <p:cNvPr id="13" name="Siguientes pasos"/>
          <p:cNvSpPr/>
          <p:nvPr/>
        </p:nvSpPr>
        <p:spPr>
          <a:xfrm>
            <a:off x="5623560" y="3520440"/>
            <a:ext cx="3063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3520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Siguientes pasos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Volver a HTTPS, sensores más precisos y alertas automáticas.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Gracias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063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¿Preguntas?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Héctor y Marco</a:t>
            </a:r>
            <a:endParaRPr lang="en-US" sz="1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052D7A3-B5CB-1F15-F458-5FE3C66C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stacion ACEBOTT">
  <a:themeElements>
    <a:clrScheme name="Estacion ACEBOTT">
      <a:dk1>
        <a:srgbClr val="1B2A41"/>
      </a:dk1>
      <a:lt1>
        <a:srgbClr val="FFFFFF"/>
      </a:lt1>
      <a:dk2>
        <a:srgbClr val="4A5A70"/>
      </a:dk2>
      <a:lt2>
        <a:srgbClr val="EEF3F7"/>
      </a:lt2>
      <a:accent1>
        <a:srgbClr val="1C7C9C"/>
      </a:accent1>
      <a:accent2>
        <a:srgbClr val="F2994A"/>
      </a:accent2>
      <a:accent3>
        <a:srgbClr val="2BA88C"/>
      </a:accent3>
      <a:accent4>
        <a:srgbClr val="6C7A89"/>
      </a:accent4>
      <a:accent5>
        <a:srgbClr val="E15B5B"/>
      </a:accent5>
      <a:accent6>
        <a:srgbClr val="8E7CC3"/>
      </a:accent6>
      <a:hlink>
        <a:srgbClr val="1C7C9C"/>
      </a:hlink>
      <a:folHlink>
        <a:srgbClr val="6C7A89"/>
      </a:folHlink>
    </a:clrScheme>
    <a:fontScheme name="Estacion ACEBOT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1060</Words>
  <Application>Microsoft Office PowerPoint</Application>
  <PresentationFormat>Presentación en pantalla (16:9)</PresentationFormat>
  <Paragraphs>74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Estacion ACEBOTT</vt:lpstr>
      <vt:lpstr>Estación meteorológica ACEBOTT</vt:lpstr>
      <vt:lpstr>Índice</vt:lpstr>
      <vt:lpstr>Una estación meteorológica conectada</vt:lpstr>
      <vt:lpstr>Cómo viaja cada lectura hasta el dashboard</vt:lpstr>
      <vt:lpstr>Resultado: datos en tiempo real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Estacion meteorologica ACEBOTT</dc:title>
  <dc:creator>Héctor y Marco</dc:creator>
  <cp:lastModifiedBy>Marco Martínez del Álamo</cp:lastModifiedBy>
  <cp:revision>1</cp:revision>
  <dcterms:created xsi:type="dcterms:W3CDTF">2026-10-18T15:54:07Z</dcterms:created>
  <dcterms:modified xsi:type="dcterms:W3CDTF">2026-10-20T08:56:34Z</dcterms:modified>
</cp:coreProperties>
</file>